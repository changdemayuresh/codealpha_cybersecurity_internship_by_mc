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Caveat Medium"/>
      <p:regular r:id="rId201314"/>
    </p:embeddedFont>
    <p:embeddedFont>
      <p:font typeface="Courier Prime"/>
      <p:regular r:id="rId201315"/>
    </p:embeddedFont>
    <p:embeddedFont>
      <p:font typeface="Courier Prime Bold"/>
      <p:regular r:id="rId201316"/>
    </p:embeddedFont>
    <p:embeddedFont>
      <p:font typeface="Fira Sans"/>
      <p:regular r:id="rId201317"/>
    </p:embeddedFont>
    <p:embeddedFont>
      <p:font typeface="Fira Sans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8B3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1B1C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83068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189" y="703659"/>
            <a:ext cx="4368691" cy="5450582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9050">
            <a:solidFill>
              <a:srgbClr val="1B1C1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1030" y="1027509"/>
            <a:ext cx="404484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SECURITY BRIEFING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81030" y="1378645"/>
            <a:ext cx="3721007" cy="31651"/>
          </a:xfrm>
          <a:prstGeom prst="roundRect">
            <a:avLst>
              <a:gd name="adj" fmla="val 49998"/>
            </a:avLst>
          </a:prstGeom>
          <a:solidFill>
            <a:srgbClr val="1B1C1E"/>
          </a:solidFill>
          <a:ln/>
        </p:spPr>
      </p:sp>
      <p:sp>
        <p:nvSpPr>
          <p:cNvPr id="7" name="Text 4"/>
          <p:cNvSpPr/>
          <p:nvPr/>
        </p:nvSpPr>
        <p:spPr>
          <a:xfrm>
            <a:off x="781030" y="1831082"/>
            <a:ext cx="3721007" cy="3017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36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Phishing Awareness Training: Defending Against Cyber Deception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81030" y="5116413"/>
            <a:ext cx="3721007" cy="31651"/>
          </a:xfrm>
          <a:prstGeom prst="roundRect">
            <a:avLst>
              <a:gd name="adj" fmla="val 49998"/>
            </a:avLst>
          </a:prstGeom>
          <a:solidFill>
            <a:srgbClr val="1B1C1E"/>
          </a:solidFill>
          <a:ln/>
        </p:spPr>
      </p:sp>
      <p:sp>
        <p:nvSpPr>
          <p:cNvPr id="9" name="Text 6"/>
          <p:cNvSpPr/>
          <p:nvPr/>
        </p:nvSpPr>
        <p:spPr>
          <a:xfrm>
            <a:off x="781030" y="5302151"/>
            <a:ext cx="372100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1C1E"/>
                </a:solidFill>
                <a:latin typeface="Caveat Medium" pitchFamily="34" charset="0"/>
                <a:ea typeface="Caveat Medium" pitchFamily="34" charset="-122"/>
                <a:cs typeface="Caveat Medium" pitchFamily="34" charset="-120"/>
              </a:rPr>
              <a:t>Created by Mayuresh Changde | CodeAlpha Cybersecurity Internship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19368001">
            <a:off x="6349489" y="1972147"/>
            <a:ext cx="507888" cy="139700"/>
          </a:xfrm>
          <a:prstGeom prst="rect">
            <a:avLst/>
          </a:prstGeom>
          <a:solidFill>
            <a:srgbClr val="E8DDB0">
              <a:alpha val="7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 rot="21528000">
            <a:off x="6502237" y="1991221"/>
            <a:ext cx="4470288" cy="2525713"/>
          </a:xfrm>
          <a:prstGeom prst="rect">
            <a:avLst/>
          </a:prstGeom>
          <a:solidFill>
            <a:srgbClr val="FFFFFF"/>
          </a:solidFill>
          <a:ln w="12700">
            <a:solidFill>
              <a:srgbClr val="5B5F6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28000">
            <a:off x="6502237" y="1991221"/>
            <a:ext cx="4470288" cy="252571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2087999">
            <a:off x="10564660" y="1883849"/>
            <a:ext cx="507888" cy="139700"/>
          </a:xfrm>
          <a:prstGeom prst="rect">
            <a:avLst/>
          </a:prstGeom>
          <a:solidFill>
            <a:srgbClr val="E8DDB0">
              <a:alpha val="78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502237" y="4602659"/>
            <a:ext cx="507987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4D9B"/>
                </a:solidFill>
                <a:latin typeface="Caveat Medium" pitchFamily="34" charset="0"/>
                <a:ea typeface="Caveat Medium" pitchFamily="34" charset="-122"/>
                <a:cs typeface="Caveat Medium" pitchFamily="34" charset="-120"/>
              </a:rPr>
              <a:t>fig. 1 — workstation audit &amp; threat mitigation log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470" y="0"/>
            <a:ext cx="12700" cy="6858000"/>
          </a:xfrm>
          <a:prstGeom prst="rect">
            <a:avLst/>
          </a:prstGeom>
          <a:solidFill>
            <a:srgbClr val="D4534A"/>
          </a:solidFill>
          <a:ln/>
        </p:spPr>
      </p:sp>
      <p:sp>
        <p:nvSpPr>
          <p:cNvPr id="3" name="Text 1"/>
          <p:cNvSpPr/>
          <p:nvPr/>
        </p:nvSpPr>
        <p:spPr>
          <a:xfrm>
            <a:off x="228594" y="558800"/>
            <a:ext cx="850879" cy="432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250"/>
              </a:spcAft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MODULE</a:t>
            </a:r>
            <a:endParaRPr lang="en-US" sz="11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28594" y="5765800"/>
            <a:ext cx="99057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C8322B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74761" y="558800"/>
            <a:ext cx="1000735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28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Understanding the Threat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4761" y="2512120"/>
            <a:ext cx="5411751" cy="219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Phishing is a cyber attack where criminals impersonate trusted organizations to steal sensitive information like passwords or financial data.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How to Recognize It: Look for generic greetings, unexpected attachments, spelling errors, and mismatched sender email addresses.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 rot="19506001">
            <a:off x="7565475" y="2183840"/>
            <a:ext cx="507888" cy="139700"/>
          </a:xfrm>
          <a:prstGeom prst="rect">
            <a:avLst/>
          </a:prstGeom>
          <a:solidFill>
            <a:srgbClr val="E8DDB0">
              <a:alpha val="7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66000">
            <a:off x="7672195" y="2280047"/>
            <a:ext cx="3681320" cy="2081907"/>
          </a:xfrm>
          <a:prstGeom prst="rect">
            <a:avLst/>
          </a:prstGeom>
          <a:solidFill>
            <a:srgbClr val="FFFFFF"/>
          </a:solidFill>
          <a:ln w="12700">
            <a:solidFill>
              <a:srgbClr val="5B5F6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66000">
            <a:off x="7672195" y="2280047"/>
            <a:ext cx="3681320" cy="20819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2225999">
            <a:off x="10992071" y="2249635"/>
            <a:ext cx="507888" cy="139700"/>
          </a:xfrm>
          <a:prstGeom prst="rect">
            <a:avLst/>
          </a:prstGeom>
          <a:solidFill>
            <a:srgbClr val="E8DDB0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672196" y="4679454"/>
            <a:ext cx="390991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4D9B"/>
                </a:solidFill>
                <a:latin typeface="Caveat Medium" pitchFamily="34" charset="0"/>
                <a:ea typeface="Caveat Medium" pitchFamily="34" charset="-122"/>
                <a:cs typeface="Caveat Medium" pitchFamily="34" charset="-120"/>
              </a:rPr>
              <a:t>specimen A · deceptive perimeter breach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24753" y="6445945"/>
            <a:ext cx="766942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470" y="0"/>
            <a:ext cx="12700" cy="6858000"/>
          </a:xfrm>
          <a:prstGeom prst="rect">
            <a:avLst/>
          </a:prstGeom>
          <a:solidFill>
            <a:srgbClr val="D4534A"/>
          </a:solidFill>
          <a:ln/>
        </p:spPr>
      </p:sp>
      <p:sp>
        <p:nvSpPr>
          <p:cNvPr id="3" name="Text 1"/>
          <p:cNvSpPr/>
          <p:nvPr/>
        </p:nvSpPr>
        <p:spPr>
          <a:xfrm>
            <a:off x="228594" y="558800"/>
            <a:ext cx="850879" cy="432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250"/>
              </a:spcAft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VECTOR</a:t>
            </a:r>
            <a:endParaRPr lang="en-US" sz="11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28594" y="5831880"/>
            <a:ext cx="99057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4D9B"/>
                </a:solidFill>
                <a:latin typeface="Caveat Medium" pitchFamily="34" charset="0"/>
                <a:ea typeface="Caveat Medium" pitchFamily="34" charset="-122"/>
                <a:cs typeface="Caveat Medium" pitchFamily="34" charset="-120"/>
              </a:rPr>
              <a:t>mindset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74761" y="558800"/>
            <a:ext cx="1000735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28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How Attackers Manipulate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74761" y="1165820"/>
            <a:ext cx="660383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Cybercriminals use psychological manipulation, known as social engineering, to trick users into making security mistakes.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74761" y="2643485"/>
            <a:ext cx="3132555" cy="38100"/>
          </a:xfrm>
          <a:prstGeom prst="rect">
            <a:avLst/>
          </a:prstGeom>
          <a:solidFill>
            <a:srgbClr val="C8322B"/>
          </a:solidFill>
          <a:ln/>
        </p:spPr>
      </p:sp>
      <p:sp>
        <p:nvSpPr>
          <p:cNvPr id="8" name="Text 6"/>
          <p:cNvSpPr/>
          <p:nvPr/>
        </p:nvSpPr>
        <p:spPr>
          <a:xfrm>
            <a:off x="1752556" y="2884785"/>
            <a:ext cx="295476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C8322B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TACTIC 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52556" y="3208933"/>
            <a:ext cx="2776964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Urgency &amp; Fear: "Your account will be permanently deleted in 24 hours!"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12108" y="2643485"/>
            <a:ext cx="3132555" cy="38100"/>
          </a:xfrm>
          <a:prstGeom prst="rect">
            <a:avLst/>
          </a:prstGeom>
          <a:solidFill>
            <a:srgbClr val="C8322B"/>
          </a:solidFill>
          <a:ln/>
        </p:spPr>
      </p:sp>
      <p:sp>
        <p:nvSpPr>
          <p:cNvPr id="11" name="Text 9"/>
          <p:cNvSpPr/>
          <p:nvPr/>
        </p:nvSpPr>
        <p:spPr>
          <a:xfrm>
            <a:off x="5189904" y="2884785"/>
            <a:ext cx="295476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C8322B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TACTIC 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89904" y="3208933"/>
            <a:ext cx="2776964" cy="15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Authority: Impersonating a manager or IT department asking for an urgent transfer.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49456" y="2643485"/>
            <a:ext cx="3132654" cy="38100"/>
          </a:xfrm>
          <a:prstGeom prst="rect">
            <a:avLst/>
          </a:prstGeom>
          <a:solidFill>
            <a:srgbClr val="C8322B"/>
          </a:solidFill>
          <a:ln/>
        </p:spPr>
      </p:sp>
      <p:sp>
        <p:nvSpPr>
          <p:cNvPr id="14" name="Text 12"/>
          <p:cNvSpPr/>
          <p:nvPr/>
        </p:nvSpPr>
        <p:spPr>
          <a:xfrm>
            <a:off x="8627251" y="2884785"/>
            <a:ext cx="295485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C8322B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TACTIC 03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27251" y="3208933"/>
            <a:ext cx="277706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Curiosity: "Click here to see a leaked photo."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4761" y="5834658"/>
            <a:ext cx="10616934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5F6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Analysis of social engineering vectors: emotional triggers bypass critical verification.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423860" y="6445945"/>
            <a:ext cx="767835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28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Spot the Red Flags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216620"/>
            <a:ext cx="5608200" cy="5031780"/>
          </a:xfrm>
          <a:prstGeom prst="roundRect">
            <a:avLst>
              <a:gd name="adj" fmla="val 1211"/>
            </a:avLst>
          </a:prstGeom>
          <a:solidFill>
            <a:srgbClr val="FFFFFF"/>
          </a:solidFill>
          <a:ln w="19050">
            <a:solidFill>
              <a:srgbClr val="D45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4874" y="2786063"/>
            <a:ext cx="4907237" cy="1892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Fake Sender: Notice when an email address does not match the official domain (e.g., @netflix-billing-update.net).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Malicious Link: Hovering over buttons often reveals strange URLs that do not go to the official website.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17312" y="6445945"/>
            <a:ext cx="774383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470" y="0"/>
            <a:ext cx="12700" cy="6858000"/>
          </a:xfrm>
          <a:prstGeom prst="rect">
            <a:avLst/>
          </a:prstGeom>
          <a:solidFill>
            <a:srgbClr val="D4534A"/>
          </a:solidFill>
          <a:ln/>
        </p:spPr>
      </p:sp>
      <p:sp>
        <p:nvSpPr>
          <p:cNvPr id="3" name="Text 1"/>
          <p:cNvSpPr/>
          <p:nvPr/>
        </p:nvSpPr>
        <p:spPr>
          <a:xfrm>
            <a:off x="228594" y="558800"/>
            <a:ext cx="850879" cy="432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250"/>
              </a:spcAft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DEFENSE</a:t>
            </a:r>
            <a:endParaRPr lang="en-US" sz="11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PROTOCOL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28594" y="5567759"/>
            <a:ext cx="85087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4D9B"/>
                </a:solidFill>
                <a:latin typeface="Caveat Medium" pitchFamily="34" charset="0"/>
                <a:ea typeface="Caveat Medium" pitchFamily="34" charset="-122"/>
                <a:cs typeface="Caveat Medium" pitchFamily="34" charset="-120"/>
              </a:rPr>
              <a:t>safe steps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74761" y="558800"/>
            <a:ext cx="1000735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28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How to Protect Yourself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 rot="19368001">
            <a:off x="1657008" y="2453202"/>
            <a:ext cx="507888" cy="139700"/>
          </a:xfrm>
          <a:prstGeom prst="rect">
            <a:avLst/>
          </a:prstGeom>
          <a:solidFill>
            <a:srgbClr val="E8DDB0">
              <a:alpha val="7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528000">
            <a:off x="1803355" y="2483941"/>
            <a:ext cx="3362836" cy="1902718"/>
          </a:xfrm>
          <a:prstGeom prst="rect">
            <a:avLst/>
          </a:prstGeom>
          <a:solidFill>
            <a:srgbClr val="FFFFFF"/>
          </a:solidFill>
          <a:ln w="12700">
            <a:solidFill>
              <a:srgbClr val="5B5F6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528000">
            <a:off x="1803355" y="2483941"/>
            <a:ext cx="3362836" cy="19027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 rot="2087999">
            <a:off x="4764970" y="2388097"/>
            <a:ext cx="507888" cy="139700"/>
          </a:xfrm>
          <a:prstGeom prst="rect">
            <a:avLst/>
          </a:prstGeom>
          <a:solidFill>
            <a:srgbClr val="E8DDB0">
              <a:alpha val="7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803355" y="4513659"/>
            <a:ext cx="359143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4D9B"/>
                </a:solidFill>
                <a:latin typeface="Caveat Medium" pitchFamily="34" charset="0"/>
                <a:ea typeface="Caveat Medium" pitchFamily="34" charset="-122"/>
                <a:cs typeface="Caveat Medium" pitchFamily="34" charset="-120"/>
              </a:rPr>
              <a:t>protocol · verified authenticators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1875" y="1940520"/>
            <a:ext cx="9141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08865" y="1896070"/>
            <a:ext cx="527324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Verify the Source: Never click unverified links. Navigate to the official website directly via your browser.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1875" y="3215580"/>
            <a:ext cx="9141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8865" y="3171130"/>
            <a:ext cx="527324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 2FA: Turn on Two-Factor Authentication on all important accounts for an extra layer of security.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851875" y="4490641"/>
            <a:ext cx="9141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08865" y="4446191"/>
            <a:ext cx="527324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Think Before You Click: Slow down and verify requests for sensitive data, even if it looks familiar.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851875" y="2986980"/>
            <a:ext cx="5730236" cy="12700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8" name="Shape 15"/>
          <p:cNvSpPr/>
          <p:nvPr/>
        </p:nvSpPr>
        <p:spPr>
          <a:xfrm>
            <a:off x="5851875" y="4262041"/>
            <a:ext cx="5730236" cy="12700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9" name="Text 16"/>
          <p:cNvSpPr/>
          <p:nvPr/>
        </p:nvSpPr>
        <p:spPr>
          <a:xfrm>
            <a:off x="11422074" y="6445945"/>
            <a:ext cx="769621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2621" y="0"/>
            <a:ext cx="6350" cy="6857802"/>
          </a:xfrm>
          <a:prstGeom prst="rect">
            <a:avLst/>
          </a:prstGeom>
          <a:solidFill>
            <a:srgbClr val="D4534A"/>
          </a:solidFill>
          <a:ln/>
        </p:spPr>
      </p:sp>
      <p:sp>
        <p:nvSpPr>
          <p:cNvPr id="3" name="Text 1"/>
          <p:cNvSpPr/>
          <p:nvPr/>
        </p:nvSpPr>
        <p:spPr>
          <a:xfrm>
            <a:off x="228396" y="558602"/>
            <a:ext cx="14630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EXAM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28396" y="793750"/>
            <a:ext cx="14630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b="1" spc="92" kern="0" dirty="0">
                <a:solidFill>
                  <a:srgbClr val="5B5F66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CASE 01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28396" y="5765800"/>
            <a:ext cx="146304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C8322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74562" y="558602"/>
            <a:ext cx="1000744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28" kern="0" dirty="0">
                <a:solidFill>
                  <a:srgbClr val="1B1C1E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Test Your Knowledge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74562" y="1165423"/>
            <a:ext cx="10007449" cy="721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You receive an urgent SMS from your bank saying your card is blocked, with a link to 'http://bank-secure-login.info/unblock'. What is your next step?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74562" y="2013545"/>
            <a:ext cx="3234351" cy="1500188"/>
          </a:xfrm>
          <a:prstGeom prst="roundRect">
            <a:avLst>
              <a:gd name="adj" fmla="val 762"/>
            </a:avLst>
          </a:prstGeom>
          <a:noFill/>
          <a:ln w="6350">
            <a:solidFill>
              <a:srgbClr val="2A4D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6880" y="2150666"/>
            <a:ext cx="290961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Option A: Click the link to unblock the card immediately.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961111" y="2013545"/>
            <a:ext cx="3234351" cy="1500188"/>
          </a:xfrm>
          <a:prstGeom prst="roundRect">
            <a:avLst>
              <a:gd name="adj" fmla="val 762"/>
            </a:avLst>
          </a:prstGeom>
          <a:noFill/>
          <a:ln w="6350">
            <a:solidFill>
              <a:srgbClr val="2A4D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3528" y="2150666"/>
            <a:ext cx="290961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Option B: Reply to the SMS asking for more details.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47660" y="2013545"/>
            <a:ext cx="3234351" cy="1500188"/>
          </a:xfrm>
          <a:prstGeom prst="roundRect">
            <a:avLst>
              <a:gd name="adj" fmla="val 762"/>
            </a:avLst>
          </a:prstGeom>
          <a:noFill/>
          <a:ln w="6350">
            <a:solidFill>
              <a:srgbClr val="C83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9978" y="2150666"/>
            <a:ext cx="2909616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Option C: Ignore the link, open your banking app, and call the official support number.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74562" y="5566271"/>
            <a:ext cx="10007449" cy="631230"/>
          </a:xfrm>
          <a:prstGeom prst="roundRect">
            <a:avLst>
              <a:gd name="adj" fmla="val 14486"/>
            </a:avLst>
          </a:prstGeom>
          <a:solidFill>
            <a:srgbClr val="FFFFFF"/>
          </a:solidFill>
          <a:ln w="6350">
            <a:solidFill>
              <a:srgbClr val="1B1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3078" y="5728692"/>
            <a:ext cx="1014000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C8322B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Answer: C! Never click links in unexpected security alerts. Always verify independently.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807628" y="6445845"/>
            <a:ext cx="774681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2026-09-30T19:11:28Z</dcterms:created>
  <dcterms:modified xsi:type="dcterms:W3CDTF">2026-09-30T19:11:28Z</dcterms:modified>
</cp:coreProperties>
</file>